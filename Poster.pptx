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F64EA-42A2-4FF8-9092-E9E4A152D3C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23359-B40A-4E4D-A71B-BE1FCBAD5F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371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ECE6-18A0-3BCE-BDE6-18DA9BD91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E212DCE8-A7B2-7030-6872-59B00FD23F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362200" y="549275"/>
            <a:ext cx="4876800" cy="27432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1F80AA32-C980-D002-EC23-CBFD8ED601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b="1" dirty="0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871D7385-4031-8FD6-5DBE-4704FEE6C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fld id="{E7FB7E0C-4FEA-4D01-9D63-D6E98DE388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288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C2873-72B0-6ECA-6ECA-002E35E8E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79954-46C5-6299-D6B8-2F9F143D6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A81DA-D75C-2CF8-8D99-DAA6435F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020C4-9682-F1E9-BC1D-2CD30C2D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C5E1E-0244-9940-A73F-052A4317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46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9AFF4-57BA-2DF1-AE00-CB5D17657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3E68B-C628-0C34-3A4E-3C5B59F9F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94873-2A12-8EDE-4AE4-1147CB5D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068EC-3EDA-2F3B-CC68-5CA90C69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6C6B-0283-8D84-FE41-3CF4A1D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74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A9AD-D3E7-B967-6D4C-26E4E94A9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A745F-CDE6-F069-9539-B7E0C677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512DB-DFFB-8CF9-C20E-4C64B150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C4E45-96DA-E8EE-17C6-5EBD6C10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A45A3-7B8C-9933-043B-4A6BA6DF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8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EBEA9-8B1F-514B-8D12-FDA6B8BF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3FB21-723D-479D-B5F2-348CC6AA0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B76C8-7A45-6587-82E6-DB321A98B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CDE8C-CDFE-D28F-2148-1EBFFA8CE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01951-2C6B-6EDF-4019-F5C2721F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B92DF-7AD2-AD68-948C-2D2C736B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27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8759-2E61-184B-8F1F-DA612D33C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18524-FE46-6186-1B2A-62658EC9C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8E450-EBC6-19BB-830C-4A565CD9F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740E96-4A8F-2AA3-C3AB-686B3100C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0741C-5535-E19C-10FB-B39101CD0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04067-D835-48EE-ABDA-61E0E66D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D63E71-9C6E-4D30-D4AA-8A413B97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30670A-B872-9149-12A8-7DBDC4FB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632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FD68C-825D-9924-B5CF-F234F976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024A5-BAA4-971B-6A60-A37DFBB2C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CF39C-B78F-10AB-5965-BB67A9BA0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A7733-92FE-3F08-67C4-5B18FEE7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13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C2929-1C2E-9CE6-6986-9F19605E7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A5E9FD-CDF5-07AF-0872-72A45F03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C15E6-2B35-8AE4-53FE-ECA6A35D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83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B109E-775C-1B83-AB4F-74B72FBCC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A72CE-6294-B811-AA53-6F333B0E4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5019E-7F4F-360C-1628-D102F674F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29559-313C-1EB5-B10D-1A6F4E92A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E4824-E2E5-DB34-A2A8-9616C5EFD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E2C4A-152F-DEE2-792B-11CD57A2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9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B3A23-BEC7-8658-DE90-E5470681F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75411-4C50-B5CA-AE68-04C1353C3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09537-91A5-F2D7-A64B-C55C117CB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E44AF-F681-10B6-BA83-92F00DF14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9D05E-6D9E-7F63-BF02-1BEE36D1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5E1FE-DBD4-F8E1-30A6-6BB4CA36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51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E183-8D63-7F74-C109-99177EC9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F6FC8-32CA-C1A2-FB1D-9C16EB360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04577-5FC1-C3D3-FBBB-06AF838FC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EDA7A-C633-E372-E754-EAB932EF2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C4584-28F4-2ECD-2E26-FBC43BCC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515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0037AF-D459-C4D1-5E92-6FF76BFA2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CFC30-B699-3B93-B9B7-3BA89023E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BF17E-6CDE-71BA-F3C8-371EF5587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7288E-6A9A-3762-FB5A-A8B6D492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0DBDE-F5A7-DC64-66E5-9853E87F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43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48ADD8-0EF3-6728-F81D-808519FA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E523A-FEE7-A1FA-B040-B2F9986F5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CA599-7D8B-C9E9-AB8A-C5247EA52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ABB30-7151-4F8E-939F-7EBB5795F83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364EE-B12F-4357-2567-83A83F783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2EFC2-2AFF-10E3-EB57-8EE505226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7938E-AFEB-4DA9-913A-05361B2D6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7386D-E826-E167-B86D-026C99341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24341A-4D31-6A0D-5CC4-CB7345578BF3}"/>
              </a:ext>
            </a:extLst>
          </p:cNvPr>
          <p:cNvSpPr/>
          <p:nvPr/>
        </p:nvSpPr>
        <p:spPr>
          <a:xfrm>
            <a:off x="1233199" y="0"/>
            <a:ext cx="9725602" cy="1177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356" tIns="14678" rIns="29356" bIns="14678" anchor="ctr"/>
          <a:lstStyle/>
          <a:p>
            <a:pPr algn="ctr" defTabSz="944324">
              <a:defRPr/>
            </a:pPr>
            <a:endParaRPr lang="en-GB" sz="3227" dirty="0">
              <a:latin typeface="Bookman Old Style" panose="02050604050505020204" pitchFamily="18" charset="0"/>
            </a:endParaRPr>
          </a:p>
          <a:p>
            <a:pPr algn="ctr" defTabSz="944324">
              <a:defRPr/>
            </a:pPr>
            <a:endParaRPr lang="en-GB" sz="3227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ctr" defTabSz="944324">
              <a:defRPr/>
            </a:pPr>
            <a:r>
              <a:rPr lang="en-GB" sz="2182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GB" sz="20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                     </a:t>
            </a:r>
          </a:p>
          <a:p>
            <a:pPr algn="ctr" defTabSz="944324">
              <a:defRPr/>
            </a:pPr>
            <a:r>
              <a:rPr lang="en-GB" sz="20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                      </a:t>
            </a:r>
            <a:r>
              <a:rPr lang="en-IN" sz="20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Lane Detection and Obstacle Avoidance using Q-Car</a:t>
            </a:r>
            <a:endParaRPr lang="en-GB" sz="20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 defTabSz="944324">
              <a:defRPr/>
            </a:pPr>
            <a:r>
              <a:rPr lang="en-GB" sz="1454" dirty="0">
                <a:solidFill>
                  <a:schemeClr val="tx1"/>
                </a:solidFill>
                <a:latin typeface="Bookman Old Style" panose="02050604050505020204" pitchFamily="18" charset="0"/>
              </a:rPr>
              <a:t>TEAM : Arihant, Shivani, Radhika</a:t>
            </a:r>
          </a:p>
          <a:p>
            <a:pPr algn="ctr" defTabSz="944324">
              <a:defRPr/>
            </a:pPr>
            <a:r>
              <a:rPr lang="en-GB" sz="1454" dirty="0">
                <a:solidFill>
                  <a:schemeClr val="tx1"/>
                </a:solidFill>
                <a:latin typeface="Bookman Old Style" panose="02050604050505020204" pitchFamily="18" charset="0"/>
              </a:rPr>
              <a:t>School of Electronics and Communication Engineering</a:t>
            </a:r>
          </a:p>
          <a:p>
            <a:pPr algn="ctr" defTabSz="944324">
              <a:defRPr/>
            </a:pPr>
            <a:endParaRPr lang="en-GB" sz="1454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 defTabSz="944324">
              <a:defRPr/>
            </a:pPr>
            <a:endParaRPr lang="en-GB" sz="1454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 defTabSz="944324">
              <a:defRPr/>
            </a:pPr>
            <a:endParaRPr lang="en-GB" sz="1454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 defTabSz="944324">
              <a:defRPr/>
            </a:pPr>
            <a:endParaRPr lang="en-GB" sz="1454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ctr" defTabSz="944324">
              <a:defRPr/>
            </a:pPr>
            <a:endParaRPr lang="en-GB" sz="1636" dirty="0">
              <a:latin typeface="Bookman Old Style" panose="02050604050505020204" pitchFamily="18" charset="0"/>
            </a:endParaRPr>
          </a:p>
          <a:p>
            <a:pPr algn="ctr" defTabSz="944324">
              <a:defRPr/>
            </a:pPr>
            <a:endParaRPr lang="en-US" sz="3227" dirty="0">
              <a:latin typeface="Bookman Old Style" panose="02050604050505020204" pitchFamily="18" charset="0"/>
            </a:endParaRPr>
          </a:p>
        </p:txBody>
      </p:sp>
      <p:sp>
        <p:nvSpPr>
          <p:cNvPr id="2060" name="Text Box 25">
            <a:extLst>
              <a:ext uri="{FF2B5EF4-FFF2-40B4-BE49-F238E27FC236}">
                <a16:creationId xmlns:a16="http://schemas.microsoft.com/office/drawing/2014/main" id="{FDB4A1BB-307B-8441-33C0-914FCC9C9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8007" y="1817099"/>
            <a:ext cx="3408073" cy="3398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prstDash val="sysDot"/>
            <a:miter lim="800000"/>
          </a:ln>
        </p:spPr>
        <p:txBody>
          <a:bodyPr wrap="none" lIns="73391" tIns="73391" rIns="73391" bIns="73391" anchor="t" anchorCtr="1"/>
          <a:lstStyle/>
          <a:p>
            <a:r>
              <a:rPr lang="en-US" sz="1636" b="1" dirty="0">
                <a:latin typeface="Bookman Old Style" panose="02050604050505020204" pitchFamily="18" charset="0"/>
                <a:cs typeface="Arial" panose="020B0604020202020204" pitchFamily="34" charset="0"/>
              </a:rPr>
              <a:t>Objectives</a:t>
            </a:r>
            <a:endParaRPr lang="en-US" sz="1545" dirty="0">
              <a:latin typeface="Bookman Old Style" panose="02050604050505020204" pitchFamily="18" charset="0"/>
            </a:endParaRPr>
          </a:p>
        </p:txBody>
      </p:sp>
      <p:sp>
        <p:nvSpPr>
          <p:cNvPr id="2061" name="Text Box 25">
            <a:extLst>
              <a:ext uri="{FF2B5EF4-FFF2-40B4-BE49-F238E27FC236}">
                <a16:creationId xmlns:a16="http://schemas.microsoft.com/office/drawing/2014/main" id="{6FA6BB3A-B0D5-0975-70E2-8F44C0E87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670" y="1128841"/>
            <a:ext cx="2595481" cy="1570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prstDash val="sysDot"/>
            <a:miter lim="800000"/>
          </a:ln>
        </p:spPr>
        <p:txBody>
          <a:bodyPr wrap="none" lIns="73391" tIns="73391" rIns="73391" bIns="73391" anchor="ctr" anchorCtr="1"/>
          <a:lstStyle/>
          <a:p>
            <a:pPr defTabSz="1408405"/>
            <a:endParaRPr lang="en-US" sz="1545" dirty="0">
              <a:latin typeface="Bookman Old Style" panose="02050604050505020204" pitchFamily="18" charset="0"/>
            </a:endParaRPr>
          </a:p>
        </p:txBody>
      </p:sp>
      <p:sp>
        <p:nvSpPr>
          <p:cNvPr id="2062" name="Text Box 25">
            <a:extLst>
              <a:ext uri="{FF2B5EF4-FFF2-40B4-BE49-F238E27FC236}">
                <a16:creationId xmlns:a16="http://schemas.microsoft.com/office/drawing/2014/main" id="{C2D301FE-065D-FE22-7463-13118C210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1728" y="1143000"/>
            <a:ext cx="3027074" cy="3284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prstDash val="sysDot"/>
            <a:miter lim="800000"/>
          </a:ln>
        </p:spPr>
        <p:txBody>
          <a:bodyPr wrap="none" lIns="73391" tIns="73391" rIns="73391" bIns="73391" anchor="ctr" anchorCtr="1"/>
          <a:lstStyle/>
          <a:p>
            <a:pPr algn="ctr" defTabSz="1408405"/>
            <a:r>
              <a:rPr lang="en-GB" sz="1545" dirty="0">
                <a:latin typeface="Bookman Old Style" panose="02050604050505020204" pitchFamily="18" charset="0"/>
              </a:rPr>
              <a:t>  </a:t>
            </a:r>
            <a:r>
              <a:rPr lang="en-GB" sz="1636" b="1" dirty="0">
                <a:latin typeface="Bookman Old Style" panose="02050604050505020204" pitchFamily="18" charset="0"/>
                <a:cs typeface="Arial" panose="020B0604020202020204" pitchFamily="34" charset="0"/>
              </a:rPr>
              <a:t>Results and inferences</a:t>
            </a:r>
            <a:endParaRPr lang="en-US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737C115A-D20C-11C2-D940-AE57D9922C67}"/>
              </a:ext>
            </a:extLst>
          </p:cNvPr>
          <p:cNvSpPr/>
          <p:nvPr/>
        </p:nvSpPr>
        <p:spPr>
          <a:xfrm>
            <a:off x="1227540" y="3710043"/>
            <a:ext cx="3408073" cy="3440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 defTabSz="944324">
              <a:defRPr/>
            </a:pPr>
            <a:r>
              <a:rPr lang="en-GB" sz="1636" b="1" dirty="0">
                <a:latin typeface="Bookman Old Style" panose="02050604050505020204" pitchFamily="18" charset="0"/>
                <a:cs typeface="Arial" panose="020B0604020202020204" pitchFamily="34" charset="0"/>
              </a:rPr>
              <a:t>Literature survey</a:t>
            </a:r>
            <a:endParaRPr lang="en-US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61AEA111-00E1-4B5F-A8BE-E9679CC33DFC}"/>
              </a:ext>
            </a:extLst>
          </p:cNvPr>
          <p:cNvSpPr/>
          <p:nvPr/>
        </p:nvSpPr>
        <p:spPr>
          <a:xfrm>
            <a:off x="4641273" y="1135470"/>
            <a:ext cx="3290455" cy="56305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636" b="1" dirty="0">
                <a:latin typeface="Bookman Old Style" panose="02050604050505020204" pitchFamily="18" charset="0"/>
                <a:cs typeface="Arial" panose="020B0604020202020204" pitchFamily="34" charset="0"/>
              </a:rPr>
              <a:t>Proposed Methodology</a:t>
            </a: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GB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algn="ctr"/>
            <a:endParaRPr lang="en-US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019D20B-22E7-40A5-E2E4-EC096279FD68}"/>
              </a:ext>
            </a:extLst>
          </p:cNvPr>
          <p:cNvSpPr/>
          <p:nvPr/>
        </p:nvSpPr>
        <p:spPr>
          <a:xfrm>
            <a:off x="1233199" y="1177637"/>
            <a:ext cx="3408073" cy="3440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73" dirty="0">
                <a:latin typeface="Bookman Old Style" panose="02050604050505020204" pitchFamily="18" charset="0"/>
              </a:rPr>
              <a:t> </a:t>
            </a:r>
            <a:r>
              <a:rPr lang="en-US" sz="1636" b="1" dirty="0">
                <a:latin typeface="Bookman Old Style" panose="02050604050505020204" pitchFamily="18" charset="0"/>
              </a:rPr>
              <a:t>Problem statement</a:t>
            </a:r>
            <a:endParaRPr lang="en-GB" sz="1182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5F7955-0E51-12BB-6624-B877844FAB81}"/>
              </a:ext>
            </a:extLst>
          </p:cNvPr>
          <p:cNvSpPr/>
          <p:nvPr/>
        </p:nvSpPr>
        <p:spPr>
          <a:xfrm>
            <a:off x="7918939" y="3522632"/>
            <a:ext cx="3052651" cy="5958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636" b="1" dirty="0">
                <a:latin typeface="Bookman Old Style" panose="02050604050505020204" pitchFamily="18" charset="0"/>
                <a:cs typeface="Arial" panose="020B0604020202020204" pitchFamily="34" charset="0"/>
              </a:rPr>
              <a:t>Design and Optimization details</a:t>
            </a:r>
            <a:endParaRPr lang="en-US" sz="1636" dirty="0">
              <a:latin typeface="Bookman Old Style" panose="020506040505050202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8D8031-687E-D269-7293-31988B00A7D8}"/>
              </a:ext>
            </a:extLst>
          </p:cNvPr>
          <p:cNvSpPr/>
          <p:nvPr/>
        </p:nvSpPr>
        <p:spPr>
          <a:xfrm>
            <a:off x="7931728" y="5435787"/>
            <a:ext cx="3027074" cy="3440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636" b="1" dirty="0">
                <a:latin typeface="Bookman Old Style" panose="02050604050505020204" pitchFamily="18" charset="0"/>
                <a:cs typeface="Arial" panose="020B0604020202020204" pitchFamily="34" charset="0"/>
              </a:rPr>
              <a:t>Conclusions</a:t>
            </a:r>
            <a:endParaRPr lang="en-US" sz="1636" dirty="0">
              <a:latin typeface="Bookman Old Style" panose="020506040505050202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945F1B0-21DD-6477-601A-7E8744B86D65}"/>
              </a:ext>
            </a:extLst>
          </p:cNvPr>
          <p:cNvSpPr/>
          <p:nvPr/>
        </p:nvSpPr>
        <p:spPr>
          <a:xfrm>
            <a:off x="1233199" y="6564213"/>
            <a:ext cx="9725602" cy="2937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73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Semester: VII                                           Under the guidance of: Dr. </a:t>
            </a:r>
            <a:r>
              <a:rPr lang="en-GB" sz="1273" b="1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Basawaraj</a:t>
            </a:r>
            <a:r>
              <a:rPr lang="en-GB" sz="1273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endParaRPr lang="en-US" sz="1273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0" name="Picture 19" descr="C:\Documents and Settings\Ramesh\Desktop\UAS\Documents\images.png">
            <a:extLst>
              <a:ext uri="{FF2B5EF4-FFF2-40B4-BE49-F238E27FC236}">
                <a16:creationId xmlns:a16="http://schemas.microsoft.com/office/drawing/2014/main" id="{8ABB993D-2194-7557-7341-889544AC0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8475" y="63480"/>
            <a:ext cx="2166350" cy="777587"/>
          </a:xfrm>
          <a:prstGeom prst="rect">
            <a:avLst/>
          </a:prstGeom>
          <a:noFill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5904739-C178-2229-A2C6-F75640E58539}"/>
              </a:ext>
            </a:extLst>
          </p:cNvPr>
          <p:cNvSpPr/>
          <p:nvPr/>
        </p:nvSpPr>
        <p:spPr>
          <a:xfrm>
            <a:off x="1233199" y="5171334"/>
            <a:ext cx="3408073" cy="3440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636" b="1" dirty="0">
                <a:latin typeface="Bookman Old Style" panose="02050604050505020204" pitchFamily="18" charset="0"/>
                <a:cs typeface="Arial" panose="020B0604020202020204" pitchFamily="34" charset="0"/>
              </a:rPr>
              <a:t>Contributions</a:t>
            </a:r>
            <a:endParaRPr lang="en-US" sz="1636" b="1" dirty="0"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sp>
        <p:nvSpPr>
          <p:cNvPr id="19" name="Text Box 25">
            <a:extLst>
              <a:ext uri="{FF2B5EF4-FFF2-40B4-BE49-F238E27FC236}">
                <a16:creationId xmlns:a16="http://schemas.microsoft.com/office/drawing/2014/main" id="{69E314FA-CD51-3146-205D-1A252A075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8324" y="933893"/>
            <a:ext cx="3027074" cy="242455"/>
          </a:xfrm>
          <a:prstGeom prst="rect">
            <a:avLst/>
          </a:prstGeom>
          <a:noFill/>
          <a:ln w="9525">
            <a:noFill/>
            <a:prstDash val="sysDot"/>
            <a:miter lim="800000"/>
          </a:ln>
        </p:spPr>
        <p:txBody>
          <a:bodyPr wrap="none" lIns="73391" tIns="73391" rIns="73391" bIns="73391" anchor="ctr" anchorCtr="1"/>
          <a:lstStyle/>
          <a:p>
            <a:pPr algn="ctr"/>
            <a:r>
              <a:rPr lang="en-US" sz="1454" b="1" dirty="0">
                <a:latin typeface="Bookman Old Style" panose="02050604050505020204" pitchFamily="18" charset="0"/>
              </a:rPr>
              <a:t>Institutional Research Project-2025-26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ACE78-7021-3BC0-A7CC-8EEBD2435DB0}"/>
              </a:ext>
            </a:extLst>
          </p:cNvPr>
          <p:cNvSpPr txBox="1"/>
          <p:nvPr/>
        </p:nvSpPr>
        <p:spPr>
          <a:xfrm>
            <a:off x="1241749" y="1477987"/>
            <a:ext cx="3354621" cy="358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64" dirty="0"/>
              <a:t>To develop a low-latency lane detection and obstacle avoidance framework for safe autonomous driving using the </a:t>
            </a:r>
            <a:r>
              <a:rPr lang="en-US" sz="864" dirty="0" err="1"/>
              <a:t>Quanser</a:t>
            </a:r>
            <a:r>
              <a:rPr lang="en-US" sz="864" dirty="0"/>
              <a:t> Q-Car.</a:t>
            </a:r>
            <a:endParaRPr lang="en-IN" sz="864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ABBF95-4652-FDC6-90CC-2C096D82C34E}"/>
              </a:ext>
            </a:extLst>
          </p:cNvPr>
          <p:cNvGraphicFramePr>
            <a:graphicFrameLocks noGrp="1"/>
          </p:cNvGraphicFramePr>
          <p:nvPr/>
        </p:nvGraphicFramePr>
        <p:xfrm>
          <a:off x="1287183" y="4041837"/>
          <a:ext cx="3280424" cy="112637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20106">
                  <a:extLst>
                    <a:ext uri="{9D8B030D-6E8A-4147-A177-3AD203B41FA5}">
                      <a16:colId xmlns:a16="http://schemas.microsoft.com/office/drawing/2014/main" val="2719679772"/>
                    </a:ext>
                  </a:extLst>
                </a:gridCol>
                <a:gridCol w="820106">
                  <a:extLst>
                    <a:ext uri="{9D8B030D-6E8A-4147-A177-3AD203B41FA5}">
                      <a16:colId xmlns:a16="http://schemas.microsoft.com/office/drawing/2014/main" val="1044768816"/>
                    </a:ext>
                  </a:extLst>
                </a:gridCol>
                <a:gridCol w="820106">
                  <a:extLst>
                    <a:ext uri="{9D8B030D-6E8A-4147-A177-3AD203B41FA5}">
                      <a16:colId xmlns:a16="http://schemas.microsoft.com/office/drawing/2014/main" val="68653396"/>
                    </a:ext>
                  </a:extLst>
                </a:gridCol>
                <a:gridCol w="820106">
                  <a:extLst>
                    <a:ext uri="{9D8B030D-6E8A-4147-A177-3AD203B41FA5}">
                      <a16:colId xmlns:a16="http://schemas.microsoft.com/office/drawing/2014/main" val="1140514648"/>
                    </a:ext>
                  </a:extLst>
                </a:gridCol>
              </a:tblGrid>
              <a:tr h="173182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Author/Year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Focus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</a:t>
                      </a:r>
                    </a:p>
                  </a:txBody>
                  <a:tcPr marL="41564" marR="41564" marT="20782" marB="20782"/>
                </a:tc>
                <a:extLst>
                  <a:ext uri="{0D108BD9-81ED-4DB2-BD59-A6C34878D82A}">
                    <a16:rowId xmlns:a16="http://schemas.microsoft.com/office/drawing/2014/main" val="91203922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Katona et al.(2024)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Obstacle Avoidance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Path Planning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 Navigation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564" marR="41564" marT="20782" marB="20782"/>
                </a:tc>
                <a:extLst>
                  <a:ext uri="{0D108BD9-81ED-4DB2-BD59-A6C34878D82A}">
                    <a16:rowId xmlns:a16="http://schemas.microsoft.com/office/drawing/2014/main" val="23011414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Suder et al.(2021)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Lane Detection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564" marR="41564" marT="20782" marB="207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HSV Vision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Accurate Lanes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564" marR="41564" marT="20782" marB="20782"/>
                </a:tc>
                <a:extLst>
                  <a:ext uri="{0D108BD9-81ED-4DB2-BD59-A6C34878D82A}">
                    <a16:rowId xmlns:a16="http://schemas.microsoft.com/office/drawing/2014/main" val="105718892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IN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Quanser</a:t>
                      </a:r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(2023)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Q-Car Platform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Camera-LIDAR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Time Control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564" marR="41564" marT="20782" marB="20782"/>
                </a:tc>
                <a:extLst>
                  <a:ext uri="{0D108BD9-81ED-4DB2-BD59-A6C34878D82A}">
                    <a16:rowId xmlns:a16="http://schemas.microsoft.com/office/drawing/2014/main" val="73540408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3A933B2-082F-D1E3-0980-3A079499C62F}"/>
              </a:ext>
            </a:extLst>
          </p:cNvPr>
          <p:cNvSpPr txBox="1"/>
          <p:nvPr/>
        </p:nvSpPr>
        <p:spPr>
          <a:xfrm>
            <a:off x="7906150" y="2491365"/>
            <a:ext cx="3052651" cy="1023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64" dirty="0"/>
              <a:t>The results show that combining </a:t>
            </a:r>
            <a:r>
              <a:rPr lang="en-US" sz="864" b="1" dirty="0"/>
              <a:t>vision-based lane detection</a:t>
            </a:r>
            <a:r>
              <a:rPr lang="en-US" sz="864" dirty="0"/>
              <a:t>, </a:t>
            </a:r>
            <a:r>
              <a:rPr lang="en-US" sz="864" b="1" dirty="0"/>
              <a:t>LIDAR-based obstacle sensing</a:t>
            </a:r>
            <a:r>
              <a:rPr lang="en-US" sz="864" dirty="0"/>
              <a:t>, and </a:t>
            </a:r>
            <a:r>
              <a:rPr lang="en-US" sz="864" b="1" dirty="0"/>
              <a:t>FSM-based control</a:t>
            </a:r>
            <a:r>
              <a:rPr lang="en-US" sz="864" dirty="0"/>
              <a:t> enables reliable autonomous navigation on the Q-Car. The vehicle maintained lane following while safely avoiding obstacles, demonstrating the effectiveness of the proposed system. This approach is suitable for educational and experimental autonomous driving applications.</a:t>
            </a:r>
            <a:endParaRPr lang="en-IN" sz="864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D026143-B7F5-B853-38E3-F080688D3E9C}"/>
              </a:ext>
            </a:extLst>
          </p:cNvPr>
          <p:cNvGraphicFramePr>
            <a:graphicFrameLocks noGrp="1"/>
          </p:cNvGraphicFramePr>
          <p:nvPr/>
        </p:nvGraphicFramePr>
        <p:xfrm>
          <a:off x="7998129" y="4127971"/>
          <a:ext cx="2902087" cy="1271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219">
                  <a:extLst>
                    <a:ext uri="{9D8B030D-6E8A-4147-A177-3AD203B41FA5}">
                      <a16:colId xmlns:a16="http://schemas.microsoft.com/office/drawing/2014/main" val="1285457040"/>
                    </a:ext>
                  </a:extLst>
                </a:gridCol>
                <a:gridCol w="1626868">
                  <a:extLst>
                    <a:ext uri="{9D8B030D-6E8A-4147-A177-3AD203B41FA5}">
                      <a16:colId xmlns:a16="http://schemas.microsoft.com/office/drawing/2014/main" val="141656450"/>
                    </a:ext>
                  </a:extLst>
                </a:gridCol>
              </a:tblGrid>
              <a:tr h="173182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+mj-lt"/>
                        </a:rPr>
                        <a:t>Feature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+mj-lt"/>
                        </a:rPr>
                        <a:t>Details</a:t>
                      </a:r>
                    </a:p>
                  </a:txBody>
                  <a:tcPr marL="41564" marR="41564" marT="20782" marB="20782"/>
                </a:tc>
                <a:extLst>
                  <a:ext uri="{0D108BD9-81ED-4DB2-BD59-A6C34878D82A}">
                    <a16:rowId xmlns:a16="http://schemas.microsoft.com/office/drawing/2014/main" val="1110520876"/>
                  </a:ext>
                </a:extLst>
              </a:tr>
              <a:tr h="228126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+mj-lt"/>
                        </a:rPr>
                        <a:t>Lane Detection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Camera-based lane tracking.</a:t>
                      </a:r>
                      <a:endParaRPr lang="en-IN" sz="900" dirty="0">
                        <a:latin typeface="+mj-lt"/>
                      </a:endParaRPr>
                    </a:p>
                  </a:txBody>
                  <a:tcPr marL="41564" marR="41564" marT="20782" marB="20782"/>
                </a:tc>
                <a:extLst>
                  <a:ext uri="{0D108BD9-81ED-4DB2-BD59-A6C34878D82A}">
                    <a16:rowId xmlns:a16="http://schemas.microsoft.com/office/drawing/2014/main" val="3140821263"/>
                  </a:ext>
                </a:extLst>
              </a:tr>
              <a:tr h="228126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+mj-lt"/>
                        </a:rPr>
                        <a:t>Obstacle detection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LIDAR-based obstacle sensing</a:t>
                      </a:r>
                      <a:r>
                        <a:rPr lang="en-US" sz="900" dirty="0"/>
                        <a:t>.</a:t>
                      </a:r>
                      <a:endParaRPr lang="en-IN" sz="900" dirty="0">
                        <a:latin typeface="+mj-lt"/>
                      </a:endParaRPr>
                    </a:p>
                  </a:txBody>
                  <a:tcPr marL="41564" marR="41564" marT="20782" marB="20782"/>
                </a:tc>
                <a:extLst>
                  <a:ext uri="{0D108BD9-81ED-4DB2-BD59-A6C34878D82A}">
                    <a16:rowId xmlns:a16="http://schemas.microsoft.com/office/drawing/2014/main" val="621613881"/>
                  </a:ext>
                </a:extLst>
              </a:tr>
              <a:tr h="228126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+mj-lt"/>
                        </a:rPr>
                        <a:t>Direction Analysis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Identifies left or right obstacles.</a:t>
                      </a:r>
                      <a:endParaRPr lang="en-IN" sz="900" dirty="0">
                        <a:latin typeface="+mj-lt"/>
                      </a:endParaRPr>
                    </a:p>
                  </a:txBody>
                  <a:tcPr marL="41564" marR="41564" marT="20782" marB="20782"/>
                </a:tc>
                <a:extLst>
                  <a:ext uri="{0D108BD9-81ED-4DB2-BD59-A6C34878D82A}">
                    <a16:rowId xmlns:a16="http://schemas.microsoft.com/office/drawing/2014/main" val="4101561897"/>
                  </a:ext>
                </a:extLst>
              </a:tr>
              <a:tr h="228126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+mj-lt"/>
                        </a:rPr>
                        <a:t>Control Logic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FSM-based navigation.</a:t>
                      </a:r>
                      <a:endParaRPr lang="en-IN" sz="900" dirty="0">
                        <a:latin typeface="+mj-lt"/>
                      </a:endParaRPr>
                    </a:p>
                  </a:txBody>
                  <a:tcPr marL="41564" marR="41564" marT="20782" marB="20782"/>
                </a:tc>
                <a:extLst>
                  <a:ext uri="{0D108BD9-81ED-4DB2-BD59-A6C34878D82A}">
                    <a16:rowId xmlns:a16="http://schemas.microsoft.com/office/drawing/2014/main" val="2977944959"/>
                  </a:ext>
                </a:extLst>
              </a:tr>
              <a:tr h="180109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+mj-lt"/>
                        </a:rPr>
                        <a:t>System Platform</a:t>
                      </a:r>
                    </a:p>
                  </a:txBody>
                  <a:tcPr marL="41564" marR="41564" marT="20782" marB="207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Implemented on </a:t>
                      </a:r>
                      <a:r>
                        <a:rPr lang="en-IN" sz="900" dirty="0" err="1"/>
                        <a:t>QCar</a:t>
                      </a:r>
                      <a:r>
                        <a:rPr lang="en-IN" sz="900" dirty="0"/>
                        <a:t>.</a:t>
                      </a:r>
                      <a:endParaRPr lang="en-IN" sz="900" dirty="0">
                        <a:latin typeface="+mj-lt"/>
                      </a:endParaRPr>
                    </a:p>
                  </a:txBody>
                  <a:tcPr marL="41564" marR="41564" marT="20782" marB="20782"/>
                </a:tc>
                <a:extLst>
                  <a:ext uri="{0D108BD9-81ED-4DB2-BD59-A6C34878D82A}">
                    <a16:rowId xmlns:a16="http://schemas.microsoft.com/office/drawing/2014/main" val="326648384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A9F6150-4713-7E59-2509-6D069462672D}"/>
              </a:ext>
            </a:extLst>
          </p:cNvPr>
          <p:cNvSpPr txBox="1"/>
          <p:nvPr/>
        </p:nvSpPr>
        <p:spPr>
          <a:xfrm>
            <a:off x="3434825" y="739180"/>
            <a:ext cx="7452681" cy="274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82" dirty="0">
                <a:latin typeface="Bookman Old Style" panose="02050604050505020204" pitchFamily="18" charset="0"/>
              </a:rPr>
              <a:t>Email ID : 01fe22bei048@kletech.ac.in ,01fe22bec293@kletech.ac.in ,01fe22bec296@kletech.ac.in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ADA379-F210-FE89-5B32-7E8F2959C171}"/>
              </a:ext>
            </a:extLst>
          </p:cNvPr>
          <p:cNvSpPr txBox="1"/>
          <p:nvPr/>
        </p:nvSpPr>
        <p:spPr>
          <a:xfrm>
            <a:off x="7910256" y="5822879"/>
            <a:ext cx="3077117" cy="225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N" sz="864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F2553-311B-A8F6-7FAE-95A7ABD7680A}"/>
              </a:ext>
            </a:extLst>
          </p:cNvPr>
          <p:cNvSpPr txBox="1"/>
          <p:nvPr/>
        </p:nvSpPr>
        <p:spPr>
          <a:xfrm>
            <a:off x="1226826" y="2185177"/>
            <a:ext cx="3435629" cy="142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864" dirty="0"/>
              <a:t>To develop a real-time vision-based lane detection system for the Q-Car.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64" dirty="0"/>
              <a:t>To integrate LIDAR-based obstacle detection for accurate environment sensing.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64" dirty="0"/>
              <a:t>To implement a Finite State Machine for systematic obstacle avoidance.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64" dirty="0"/>
              <a:t>To ensure smooth and stable lane following during navigation.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64" dirty="0"/>
              <a:t>To enable safe left and right obstacle bypassing.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64" dirty="0"/>
              <a:t>To deploy and test the system on the </a:t>
            </a:r>
            <a:r>
              <a:rPr lang="en-US" sz="864" dirty="0" err="1"/>
              <a:t>Quanser</a:t>
            </a:r>
            <a:r>
              <a:rPr lang="en-US" sz="864" dirty="0"/>
              <a:t> Q-Car platform.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64" dirty="0"/>
              <a:t>To evaluate system performance under different obstacle scenarios.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864" dirty="0"/>
              <a:t>To improve overall safety and reliability of autonomous navigation.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5559FBB3-0805-058B-16D2-DF0D4AA5A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199" y="5471768"/>
            <a:ext cx="3387605" cy="1105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564" tIns="20782" rIns="41564" bIns="20782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415595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64" dirty="0">
                <a:latin typeface="Arial" panose="020B0604020202020204" pitchFamily="34" charset="0"/>
              </a:rPr>
              <a:t>Designed and implemented a real-time vision-based lane detection module for accurate lane tracking.</a:t>
            </a:r>
          </a:p>
          <a:p>
            <a:pPr algn="just" defTabSz="415595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64" dirty="0">
                <a:latin typeface="Arial" panose="020B0604020202020204" pitchFamily="34" charset="0"/>
              </a:rPr>
              <a:t>Integrated 360° LIDAR sensing to detect obstacles and determine their position relative to the vehicle.</a:t>
            </a:r>
          </a:p>
          <a:p>
            <a:pPr algn="just" defTabSz="415595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64" dirty="0">
                <a:latin typeface="Arial" panose="020B0604020202020204" pitchFamily="34" charset="0"/>
              </a:rPr>
              <a:t>Developed an FSM-based control strategy to perform systematic and safe obstacle avoidance.</a:t>
            </a:r>
          </a:p>
          <a:p>
            <a:pPr algn="just" defTabSz="415595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64" dirty="0">
                <a:latin typeface="Arial" panose="020B0604020202020204" pitchFamily="34" charset="0"/>
              </a:rPr>
              <a:t>Achieved stable lane following with automatic left and right obstacle bypassing.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7D6166B-2C20-D0F9-EA14-72A67370DF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527" y="1533364"/>
            <a:ext cx="1183098" cy="9061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DCAEB2-664C-6947-B932-A274A98B89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746" y="1555747"/>
            <a:ext cx="1183098" cy="90506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32C6648-2EE4-5D80-BA61-CB1CF2F8DBC3}"/>
              </a:ext>
            </a:extLst>
          </p:cNvPr>
          <p:cNvSpPr txBox="1"/>
          <p:nvPr/>
        </p:nvSpPr>
        <p:spPr>
          <a:xfrm>
            <a:off x="7915914" y="5748701"/>
            <a:ext cx="3027074" cy="757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64" dirty="0"/>
              <a:t>The project successfully implemented a </a:t>
            </a:r>
            <a:r>
              <a:rPr lang="en-US" sz="864" b="1" dirty="0"/>
              <a:t>vision and LIDAR based navigation system</a:t>
            </a:r>
            <a:r>
              <a:rPr lang="en-US" sz="864" dirty="0"/>
              <a:t> on the </a:t>
            </a:r>
            <a:r>
              <a:rPr lang="en-US" sz="864" dirty="0" err="1"/>
              <a:t>Quanser</a:t>
            </a:r>
            <a:r>
              <a:rPr lang="en-US" sz="864" dirty="0"/>
              <a:t> Q-Car. The vehicle was able to follow lanes and avoid obstacles using FSM-based control. The results show that the system provides stable and reliable autonomous driving in an indoor environment.</a:t>
            </a:r>
            <a:endParaRPr lang="en-IN" sz="864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ACE93E5-9898-C4BC-8F14-DC5A909BE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956" y="1289333"/>
            <a:ext cx="3399868" cy="259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AB127FA-ABAD-4AD0-F30E-0EB175198C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740" y="3746418"/>
            <a:ext cx="3296467" cy="242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29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Widescreen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Bookman Old Style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RADHIKA MUNDRA</dc:creator>
  <cp:lastModifiedBy>RADHIKA MUNDRA</cp:lastModifiedBy>
  <cp:revision>1</cp:revision>
  <dcterms:created xsi:type="dcterms:W3CDTF">2026-01-06T11:11:29Z</dcterms:created>
  <dcterms:modified xsi:type="dcterms:W3CDTF">2026-01-06T11:12:27Z</dcterms:modified>
</cp:coreProperties>
</file>